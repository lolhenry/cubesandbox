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38988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162A5A"/>
                </a:solidFill>
                <a:latin typeface="微软雅黑"/>
                <a:ea typeface="微软雅黑"/>
              </a:rPr>
              <a:t>原图（线框所依）</a:t>
            </a:r>
          </a:p>
        </p:txBody>
      </p:sp>
      <p:pic>
        <p:nvPicPr>
          <p:cNvPr id="3" name="Picture 2" descr="6601cb88-8692-4f53-9abf-f3f1b7745a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548640"/>
            <a:ext cx="11704320" cy="7406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17320" y="164592"/>
            <a:ext cx="12938760" cy="347472"/>
          </a:xfrm>
          <a:prstGeom prst="rect">
            <a:avLst/>
          </a:prstGeom>
          <a:solidFill>
            <a:srgbClr val="F4F5F7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90472" y="182879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162A5A"/>
                </a:solidFill>
                <a:latin typeface="微软雅黑"/>
                <a:ea typeface="微软雅黑"/>
              </a:rPr>
              <a:t>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512064"/>
            <a:ext cx="12938760" cy="1024128"/>
          </a:xfrm>
          <a:prstGeom prst="rect">
            <a:avLst/>
          </a:prstGeom>
          <a:solidFill>
            <a:srgbClr val="F4F5F7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90472" y="530352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162A5A"/>
                </a:solidFill>
                <a:latin typeface="微软雅黑"/>
                <a:ea typeface="微软雅黑"/>
              </a:rPr>
              <a:t>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572768"/>
            <a:ext cx="12938760" cy="3127248"/>
          </a:xfrm>
          <a:prstGeom prst="rect">
            <a:avLst/>
          </a:prstGeom>
          <a:solidFill>
            <a:srgbClr val="F4F5F7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0472" y="1591056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162A5A"/>
                </a:solidFill>
                <a:latin typeface="微软雅黑"/>
                <a:ea typeface="微软雅黑"/>
              </a:rPr>
              <a:t>系统库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4736592"/>
            <a:ext cx="12938760" cy="896112"/>
          </a:xfrm>
          <a:prstGeom prst="rect">
            <a:avLst/>
          </a:prstGeom>
          <a:solidFill>
            <a:srgbClr val="F4F5F7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0472" y="4754879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162A5A"/>
                </a:solidFill>
                <a:latin typeface="微软雅黑"/>
                <a:ea typeface="微软雅黑"/>
              </a:rPr>
              <a:t>HAL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5669280"/>
            <a:ext cx="12938760" cy="2212848"/>
          </a:xfrm>
          <a:prstGeom prst="rect">
            <a:avLst/>
          </a:prstGeom>
          <a:solidFill>
            <a:srgbClr val="F4F5F7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0472" y="56875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162A5A"/>
                </a:solidFill>
                <a:latin typeface="微软雅黑"/>
                <a:ea typeface="微软雅黑"/>
              </a:rPr>
              <a:t>Kernel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713232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微软雅黑"/>
                <a:ea typeface="微软雅黑"/>
              </a:rPr>
              <a:t>Graphics
控件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658368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Open GL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658368"/>
            <a:ext cx="17830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windowManger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1783080"/>
            <a:ext cx="690372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libandroid_runtime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2331720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HWUI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2331720"/>
            <a:ext cx="114300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libRS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2331720"/>
            <a:ext cx="114300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Vulkan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331720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libgui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292840" y="2212848"/>
            <a:ext cx="1874519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MediaCodec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91640" y="2944368"/>
            <a:ext cx="114300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Skia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3401568"/>
            <a:ext cx="19659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Open GL 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2907792"/>
            <a:ext cx="214884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SurfaceFlinger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3703320"/>
            <a:ext cx="178308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微软雅黑"/>
                <a:ea typeface="微软雅黑"/>
              </a:rPr>
              <a:t>allocator
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3703320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微软雅黑"/>
                <a:ea typeface="微软雅黑"/>
              </a:rPr>
              <a:t>HWComposer
service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4919472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Gralloc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4919472"/>
            <a:ext cx="132588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HWC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018520" y="4919472"/>
            <a:ext cx="132588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overlay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91640" y="5989320"/>
            <a:ext cx="13258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微软雅黑"/>
                <a:ea typeface="微软雅黑"/>
              </a:rPr>
              <a:t>JPEG
硬解加速
（可选）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54680" y="5989320"/>
            <a:ext cx="13258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微软雅黑"/>
                <a:ea typeface="微软雅黑"/>
              </a:rPr>
              <a:t>PNG
硬解加速
（可选）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00600" y="5989320"/>
            <a:ext cx="13258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22222"/>
                </a:solidFill>
                <a:latin typeface="微软雅黑"/>
                <a:ea typeface="微软雅黑"/>
              </a:rPr>
              <a:t>GPU
图形通用绘制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5989320"/>
            <a:ext cx="12344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微软雅黑"/>
                <a:ea typeface="微软雅黑"/>
              </a:rPr>
              <a:t>ION
内存提供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598932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微软雅黑"/>
                <a:ea typeface="微软雅黑"/>
              </a:rPr>
              <a:t>叠加加速器
（可选）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5989320"/>
            <a:ext cx="13258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微软雅黑"/>
                <a:ea typeface="微软雅黑"/>
              </a:rPr>
              <a:t>FB
图形图层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109960" y="598932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微软雅黑"/>
                <a:ea typeface="微软雅黑"/>
              </a:rPr>
              <a:t>视频通路
（可选）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1640" y="7589520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图形加速解码器类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7589520"/>
            <a:ext cx="13258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图形通用绘制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7589520"/>
            <a:ext cx="12344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内存提供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7589520"/>
            <a:ext cx="14173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叠加加速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7589520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显示层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537460" y="1280160"/>
            <a:ext cx="0" cy="502920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869180" y="1225295"/>
            <a:ext cx="0" cy="557785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3223260" y="2167128"/>
            <a:ext cx="365759" cy="164592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4594860" y="2167128"/>
            <a:ext cx="457199" cy="164592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5920740" y="2167128"/>
            <a:ext cx="411479" cy="164592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606040" y="2551176"/>
            <a:ext cx="228600" cy="612648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223260" y="2770632"/>
            <a:ext cx="1005840" cy="630936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4549140" y="2770632"/>
            <a:ext cx="45720" cy="630936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263140" y="3383280"/>
            <a:ext cx="91440" cy="2606040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971800" y="3383280"/>
            <a:ext cx="845820" cy="2606040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920740" y="2770632"/>
            <a:ext cx="0" cy="859536"/>
          </a:xfrm>
          <a:prstGeom prst="line">
            <a:avLst/>
          </a:prstGeom>
          <a:ln w="22225">
            <a:solidFill>
              <a:srgbClr val="D0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5463540" y="3630168"/>
            <a:ext cx="457200" cy="0"/>
          </a:xfrm>
          <a:prstGeom prst="line">
            <a:avLst/>
          </a:prstGeom>
          <a:ln w="22225">
            <a:solidFill>
              <a:srgbClr val="D0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463540" y="3630168"/>
            <a:ext cx="0" cy="2359152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229100" y="3858768"/>
            <a:ext cx="1234440" cy="2130552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709660" y="1225295"/>
            <a:ext cx="0" cy="557785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7978140" y="2167128"/>
            <a:ext cx="160020" cy="164592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641080" y="2496312"/>
            <a:ext cx="2651760" cy="54864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978140" y="2770632"/>
            <a:ext cx="548640" cy="137160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7795260" y="3383280"/>
            <a:ext cx="365760" cy="320040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983980" y="3383280"/>
            <a:ext cx="1005839" cy="320040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795260" y="4206240"/>
            <a:ext cx="0" cy="713232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7155180" y="5422392"/>
            <a:ext cx="640080" cy="566928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212079" y="3630168"/>
            <a:ext cx="1691641" cy="0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257799" y="3145536"/>
            <a:ext cx="123444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GPU叠加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601200" y="3145536"/>
            <a:ext cx="388619" cy="0"/>
          </a:xfrm>
          <a:prstGeom prst="line">
            <a:avLst/>
          </a:prstGeom>
          <a:ln w="22225">
            <a:solidFill>
              <a:srgbClr val="2F6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9852660" y="4206240"/>
            <a:ext cx="137159" cy="713232"/>
          </a:xfrm>
          <a:prstGeom prst="line">
            <a:avLst/>
          </a:prstGeom>
          <a:ln w="22225">
            <a:solidFill>
              <a:srgbClr val="2F6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8709660" y="5170932"/>
            <a:ext cx="480060" cy="0"/>
          </a:xfrm>
          <a:prstGeom prst="line">
            <a:avLst/>
          </a:prstGeom>
          <a:ln w="22225">
            <a:solidFill>
              <a:srgbClr val="2F6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955280" y="4663440"/>
            <a:ext cx="12801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2F6FD4"/>
                </a:solidFill>
                <a:latin typeface="微软雅黑"/>
                <a:ea typeface="微软雅黑"/>
              </a:rPr>
              <a:t>叠加 Compose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852660" y="5422392"/>
            <a:ext cx="411480" cy="566928"/>
          </a:xfrm>
          <a:prstGeom prst="line">
            <a:avLst/>
          </a:prstGeom>
          <a:ln w="22225">
            <a:solidFill>
              <a:srgbClr val="2F6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0332720" y="5422392"/>
            <a:ext cx="82296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2F6FD4"/>
                </a:solidFill>
                <a:latin typeface="微软雅黑"/>
                <a:ea typeface="微软雅黑"/>
              </a:rPr>
              <a:t>刷新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0515600" y="5170932"/>
            <a:ext cx="502920" cy="0"/>
          </a:xfrm>
          <a:prstGeom prst="line">
            <a:avLst/>
          </a:prstGeom>
          <a:ln w="22225">
            <a:solidFill>
              <a:srgbClr val="D4A0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1681460" y="5422392"/>
            <a:ext cx="137160" cy="566928"/>
          </a:xfrm>
          <a:prstGeom prst="line">
            <a:avLst/>
          </a:prstGeom>
          <a:ln w="22225">
            <a:solidFill>
              <a:srgbClr val="D4A0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2207240" y="5422392"/>
            <a:ext cx="10058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D4A012"/>
                </a:solidFill>
                <a:latin typeface="微软雅黑"/>
                <a:ea typeface="微软雅黑"/>
              </a:rPr>
              <a:t>独立送显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9728" y="164592"/>
            <a:ext cx="12344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162A5A"/>
                </a:solidFill>
                <a:latin typeface="微软雅黑"/>
                <a:ea typeface="微软雅黑"/>
              </a:rPr>
              <a:t>图例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64592" y="530352"/>
            <a:ext cx="704088" cy="0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09728" y="566928"/>
            <a:ext cx="12344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D03232"/>
                </a:solidFill>
                <a:latin typeface="微软雅黑"/>
                <a:ea typeface="微软雅黑"/>
              </a:rPr>
              <a:t>绘制通路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64592" y="932688"/>
            <a:ext cx="704088" cy="0"/>
          </a:xfrm>
          <a:prstGeom prst="line">
            <a:avLst/>
          </a:prstGeom>
          <a:ln w="22225">
            <a:solidFill>
              <a:srgbClr val="2F6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09728" y="969264"/>
            <a:ext cx="12344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2F6FD4"/>
                </a:solidFill>
                <a:latin typeface="微软雅黑"/>
                <a:ea typeface="微软雅黑"/>
              </a:rPr>
              <a:t>叠加通路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64592" y="1335024"/>
            <a:ext cx="704088" cy="0"/>
          </a:xfrm>
          <a:prstGeom prst="line">
            <a:avLst/>
          </a:prstGeom>
          <a:ln w="22225">
            <a:solidFill>
              <a:srgbClr val="D4A0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09728" y="1371600"/>
            <a:ext cx="12344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D4A012"/>
                </a:solidFill>
                <a:latin typeface="微软雅黑"/>
                <a:ea typeface="微软雅黑"/>
              </a:rPr>
              <a:t>送显通路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" y="4800600"/>
            <a:ext cx="12801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HAL：封装底层驱动对接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" y="5806440"/>
            <a:ext cx="128016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Kernel：芯片能力。JPEG/叠加/视频通路可选，需硬件支持。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17320" y="7882127"/>
            <a:ext cx="12938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162A5A"/>
                </a:solidFill>
                <a:latin typeface="微软雅黑"/>
                <a:ea typeface="微软雅黑"/>
              </a:rPr>
              <a:t>真机线框。红=绘制，蓝=叠加，黄=送显。模块名按原图（含 windowManger 拼写）。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17320" y="164592"/>
            <a:ext cx="12938760" cy="347472"/>
          </a:xfrm>
          <a:prstGeom prst="rect">
            <a:avLst/>
          </a:prstGeom>
          <a:solidFill>
            <a:srgbClr val="F4F5F7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90472" y="182879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162A5A"/>
                </a:solidFill>
                <a:latin typeface="微软雅黑"/>
                <a:ea typeface="微软雅黑"/>
              </a:rPr>
              <a:t>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512064"/>
            <a:ext cx="12938760" cy="1024128"/>
          </a:xfrm>
          <a:prstGeom prst="rect">
            <a:avLst/>
          </a:prstGeom>
          <a:solidFill>
            <a:srgbClr val="F4F5F7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90472" y="530352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162A5A"/>
                </a:solidFill>
                <a:latin typeface="微软雅黑"/>
                <a:ea typeface="微软雅黑"/>
              </a:rPr>
              <a:t>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572768"/>
            <a:ext cx="12938760" cy="3127248"/>
          </a:xfrm>
          <a:prstGeom prst="rect">
            <a:avLst/>
          </a:prstGeom>
          <a:solidFill>
            <a:srgbClr val="F4F5F7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0472" y="1591056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162A5A"/>
                </a:solidFill>
                <a:latin typeface="微软雅黑"/>
                <a:ea typeface="微软雅黑"/>
              </a:rPr>
              <a:t>系统库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4736592"/>
            <a:ext cx="12938760" cy="896112"/>
          </a:xfrm>
          <a:prstGeom prst="rect">
            <a:avLst/>
          </a:prstGeom>
          <a:solidFill>
            <a:srgbClr val="F4F5F7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0472" y="4754879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162A5A"/>
                </a:solidFill>
                <a:latin typeface="微软雅黑"/>
                <a:ea typeface="微软雅黑"/>
              </a:rPr>
              <a:t>HAL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5669280"/>
            <a:ext cx="12938760" cy="2212848"/>
          </a:xfrm>
          <a:prstGeom prst="rect">
            <a:avLst/>
          </a:prstGeom>
          <a:solidFill>
            <a:srgbClr val="F4F5F7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0472" y="56875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162A5A"/>
                </a:solidFill>
                <a:latin typeface="微软雅黑"/>
                <a:ea typeface="微软雅黑"/>
              </a:rPr>
              <a:t>Kernel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713232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微软雅黑"/>
                <a:ea typeface="微软雅黑"/>
              </a:rPr>
              <a:t>Graphics
控件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658368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Open GL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658368"/>
            <a:ext cx="17830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windowManger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1783080"/>
            <a:ext cx="690372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libandroid_runtime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2331720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HWUI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2331720"/>
            <a:ext cx="114300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libRS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2331720"/>
            <a:ext cx="114300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Vulkan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331720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libgui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292840" y="2212848"/>
            <a:ext cx="1874519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MediaCodec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91640" y="2944368"/>
            <a:ext cx="114300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Skia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3401568"/>
            <a:ext cx="1965960" cy="4572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28575">
            <a:solidFill>
              <a:srgbClr val="C96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6C16"/>
                </a:solidFill>
                <a:latin typeface="微软雅黑"/>
                <a:ea typeface="微软雅黑"/>
              </a:rPr>
              <a:t>Open GL 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2907792"/>
            <a:ext cx="214884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SurfaceFlinger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3703320"/>
            <a:ext cx="178308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微软雅黑"/>
                <a:ea typeface="微软雅黑"/>
              </a:rPr>
              <a:t>allocator
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3703320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微软雅黑"/>
                <a:ea typeface="微软雅黑"/>
              </a:rPr>
              <a:t>HWComposer
service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4919472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Gralloc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4919472"/>
            <a:ext cx="132588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HWC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018520" y="4919472"/>
            <a:ext cx="132588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overlay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91640" y="5989320"/>
            <a:ext cx="13258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微软雅黑"/>
                <a:ea typeface="微软雅黑"/>
              </a:rPr>
              <a:t>JPEG
硬解加速
（可选）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54680" y="5989320"/>
            <a:ext cx="13258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微软雅黑"/>
                <a:ea typeface="微软雅黑"/>
              </a:rPr>
              <a:t>PNG
硬解加速
（可选）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00600" y="5989320"/>
            <a:ext cx="1325880" cy="86868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66666"/>
                </a:solidFill>
                <a:latin typeface="微软雅黑"/>
                <a:ea typeface="微软雅黑"/>
              </a:rPr>
              <a:t>GPU
图形通用绘制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5989320"/>
            <a:ext cx="12344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微软雅黑"/>
                <a:ea typeface="微软雅黑"/>
              </a:rPr>
              <a:t>ION
内存提供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598932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微软雅黑"/>
                <a:ea typeface="微软雅黑"/>
              </a:rPr>
              <a:t>叠加加速器
（可选）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5989320"/>
            <a:ext cx="13258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微软雅黑"/>
                <a:ea typeface="微软雅黑"/>
              </a:rPr>
              <a:t>FB
图形图层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109960" y="598932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微软雅黑"/>
                <a:ea typeface="微软雅黑"/>
              </a:rPr>
              <a:t>视频通路
（可选）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1640" y="7589520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图形加速解码器类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7589520"/>
            <a:ext cx="13258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图形通用绘制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7589520"/>
            <a:ext cx="12344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内存提供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7589520"/>
            <a:ext cx="14173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叠加加速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7589520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显示层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537460" y="1280160"/>
            <a:ext cx="0" cy="502920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869180" y="1225295"/>
            <a:ext cx="0" cy="557785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3223260" y="2167128"/>
            <a:ext cx="365759" cy="164592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4594860" y="2167128"/>
            <a:ext cx="457199" cy="164592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5920740" y="2167128"/>
            <a:ext cx="411479" cy="164592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606040" y="2551176"/>
            <a:ext cx="228600" cy="612648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223260" y="2770632"/>
            <a:ext cx="1005840" cy="630936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4549140" y="2770632"/>
            <a:ext cx="45720" cy="630936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263140" y="3383280"/>
            <a:ext cx="91440" cy="2606040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971800" y="3383280"/>
            <a:ext cx="845820" cy="2606040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920740" y="2770632"/>
            <a:ext cx="0" cy="859536"/>
          </a:xfrm>
          <a:prstGeom prst="line">
            <a:avLst/>
          </a:prstGeom>
          <a:ln w="22225">
            <a:solidFill>
              <a:srgbClr val="D0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5463540" y="3630168"/>
            <a:ext cx="457200" cy="0"/>
          </a:xfrm>
          <a:prstGeom prst="line">
            <a:avLst/>
          </a:prstGeom>
          <a:ln w="22225">
            <a:solidFill>
              <a:srgbClr val="D0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463540" y="3630168"/>
            <a:ext cx="0" cy="2359152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229100" y="3858768"/>
            <a:ext cx="1234440" cy="2130552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709660" y="1225295"/>
            <a:ext cx="0" cy="557785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7978140" y="2167128"/>
            <a:ext cx="160020" cy="164592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641080" y="2496312"/>
            <a:ext cx="2651760" cy="54864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978140" y="2770632"/>
            <a:ext cx="548640" cy="137160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7795260" y="3383280"/>
            <a:ext cx="365760" cy="320040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983980" y="3383280"/>
            <a:ext cx="1005839" cy="320040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795260" y="4206240"/>
            <a:ext cx="0" cy="713232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7155180" y="5422392"/>
            <a:ext cx="640080" cy="566928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212079" y="3630168"/>
            <a:ext cx="1691641" cy="0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257799" y="3145536"/>
            <a:ext cx="123444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GPU叠加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601200" y="3145536"/>
            <a:ext cx="388619" cy="0"/>
          </a:xfrm>
          <a:prstGeom prst="line">
            <a:avLst/>
          </a:prstGeom>
          <a:ln w="22225">
            <a:solidFill>
              <a:srgbClr val="2F6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9852660" y="4206240"/>
            <a:ext cx="137159" cy="713232"/>
          </a:xfrm>
          <a:prstGeom prst="line">
            <a:avLst/>
          </a:prstGeom>
          <a:ln w="22225">
            <a:solidFill>
              <a:srgbClr val="2F6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8709660" y="5170932"/>
            <a:ext cx="480060" cy="0"/>
          </a:xfrm>
          <a:prstGeom prst="line">
            <a:avLst/>
          </a:prstGeom>
          <a:ln w="22225">
            <a:solidFill>
              <a:srgbClr val="2F6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955280" y="4663440"/>
            <a:ext cx="12801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2F6FD4"/>
                </a:solidFill>
                <a:latin typeface="微软雅黑"/>
                <a:ea typeface="微软雅黑"/>
              </a:rPr>
              <a:t>叠加 Compose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852660" y="5422392"/>
            <a:ext cx="411480" cy="566928"/>
          </a:xfrm>
          <a:prstGeom prst="line">
            <a:avLst/>
          </a:prstGeom>
          <a:ln w="22225">
            <a:solidFill>
              <a:srgbClr val="2F6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0332720" y="5422392"/>
            <a:ext cx="82296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2F6FD4"/>
                </a:solidFill>
                <a:latin typeface="微软雅黑"/>
                <a:ea typeface="微软雅黑"/>
              </a:rPr>
              <a:t>刷新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0515600" y="5170932"/>
            <a:ext cx="502920" cy="0"/>
          </a:xfrm>
          <a:prstGeom prst="line">
            <a:avLst/>
          </a:prstGeom>
          <a:ln w="22225">
            <a:solidFill>
              <a:srgbClr val="D4A0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1681460" y="5422392"/>
            <a:ext cx="137160" cy="566928"/>
          </a:xfrm>
          <a:prstGeom prst="line">
            <a:avLst/>
          </a:prstGeom>
          <a:ln w="22225">
            <a:solidFill>
              <a:srgbClr val="D4A0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2207240" y="5422392"/>
            <a:ext cx="10058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D4A012"/>
                </a:solidFill>
                <a:latin typeface="微软雅黑"/>
                <a:ea typeface="微软雅黑"/>
              </a:rPr>
              <a:t>独立送显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9728" y="164592"/>
            <a:ext cx="12344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162A5A"/>
                </a:solidFill>
                <a:latin typeface="微软雅黑"/>
                <a:ea typeface="微软雅黑"/>
              </a:rPr>
              <a:t>图例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64592" y="530352"/>
            <a:ext cx="704088" cy="0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09728" y="566928"/>
            <a:ext cx="12344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D03232"/>
                </a:solidFill>
                <a:latin typeface="微软雅黑"/>
                <a:ea typeface="微软雅黑"/>
              </a:rPr>
              <a:t>绘制通路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64592" y="932688"/>
            <a:ext cx="704088" cy="0"/>
          </a:xfrm>
          <a:prstGeom prst="line">
            <a:avLst/>
          </a:prstGeom>
          <a:ln w="22225">
            <a:solidFill>
              <a:srgbClr val="2F6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09728" y="969264"/>
            <a:ext cx="12344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2F6FD4"/>
                </a:solidFill>
                <a:latin typeface="微软雅黑"/>
                <a:ea typeface="微软雅黑"/>
              </a:rPr>
              <a:t>叠加通路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64592" y="1335024"/>
            <a:ext cx="704088" cy="0"/>
          </a:xfrm>
          <a:prstGeom prst="line">
            <a:avLst/>
          </a:prstGeom>
          <a:ln w="22225">
            <a:solidFill>
              <a:srgbClr val="D4A0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09728" y="1371600"/>
            <a:ext cx="12344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D4A012"/>
                </a:solidFill>
                <a:latin typeface="微软雅黑"/>
                <a:ea typeface="微软雅黑"/>
              </a:rPr>
              <a:t>送显通路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" y="4800600"/>
            <a:ext cx="12801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HAL：封装底层驱动对接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" y="5806440"/>
            <a:ext cx="128016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Kernel：芯片能力。JPEG/叠加/视频通路可选，需硬件支持。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17320" y="7882127"/>
            <a:ext cx="12938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162A5A"/>
                </a:solidFill>
                <a:latin typeface="微软雅黑"/>
                <a:ea typeface="微软雅黑"/>
              </a:rPr>
              <a:t>落点：系统库这一层的 OpenGL ES 实现。不是内核 GPU，也不是 SurfaceFlinger / HWC。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17320" y="164592"/>
            <a:ext cx="12938760" cy="347472"/>
          </a:xfrm>
          <a:prstGeom prst="rect">
            <a:avLst/>
          </a:prstGeom>
          <a:solidFill>
            <a:srgbClr val="F4F5F7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90472" y="182879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162A5A"/>
                </a:solidFill>
                <a:latin typeface="微软雅黑"/>
                <a:ea typeface="微软雅黑"/>
              </a:rPr>
              <a:t>APP（MicroVM 内 ReDroid）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512064"/>
            <a:ext cx="12938760" cy="1024128"/>
          </a:xfrm>
          <a:prstGeom prst="rect">
            <a:avLst/>
          </a:prstGeom>
          <a:solidFill>
            <a:srgbClr val="F4F5F7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90472" y="530352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162A5A"/>
                </a:solidFill>
                <a:latin typeface="微软雅黑"/>
                <a:ea typeface="微软雅黑"/>
              </a:rPr>
              <a:t>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572768"/>
            <a:ext cx="12938760" cy="3127248"/>
          </a:xfrm>
          <a:prstGeom prst="rect">
            <a:avLst/>
          </a:prstGeom>
          <a:solidFill>
            <a:srgbClr val="F4F5F7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0472" y="1591056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162A5A"/>
                </a:solidFill>
                <a:latin typeface="微软雅黑"/>
                <a:ea typeface="微软雅黑"/>
              </a:rPr>
              <a:t>系统库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4736592"/>
            <a:ext cx="12938760" cy="896112"/>
          </a:xfrm>
          <a:prstGeom prst="rect">
            <a:avLst/>
          </a:prstGeom>
          <a:solidFill>
            <a:srgbClr val="F4F5F7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0472" y="4754879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162A5A"/>
                </a:solidFill>
                <a:latin typeface="微软雅黑"/>
                <a:ea typeface="微软雅黑"/>
              </a:rPr>
              <a:t>HAL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5669280"/>
            <a:ext cx="12938760" cy="2212848"/>
          </a:xfrm>
          <a:prstGeom prst="rect">
            <a:avLst/>
          </a:prstGeom>
          <a:solidFill>
            <a:srgbClr val="F4F5F7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0472" y="56875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162A5A"/>
                </a:solidFill>
                <a:latin typeface="微软雅黑"/>
                <a:ea typeface="微软雅黑"/>
              </a:rPr>
              <a:t>Kernel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713232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微软雅黑"/>
                <a:ea typeface="微软雅黑"/>
              </a:rPr>
              <a:t>Graphics
控件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658368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Open GL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658368"/>
            <a:ext cx="17830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windowManger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1783080"/>
            <a:ext cx="690372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libandroid_runtime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2331720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HWUI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2331720"/>
            <a:ext cx="114300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libRS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2331720"/>
            <a:ext cx="114300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Vulkan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331720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libgui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292840" y="2212848"/>
            <a:ext cx="1874519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MediaCodec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91640" y="2944368"/>
            <a:ext cx="114300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Skia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3401568"/>
            <a:ext cx="1965960" cy="4572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28575">
            <a:solidFill>
              <a:srgbClr val="C96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6C16"/>
                </a:solidFill>
                <a:latin typeface="微软雅黑"/>
                <a:ea typeface="微软雅黑"/>
              </a:rPr>
              <a:t>Open GL ES
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4096512"/>
            <a:ext cx="2286000" cy="5303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28575">
            <a:solidFill>
              <a:srgbClr val="C96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6C16"/>
                </a:solidFill>
                <a:latin typeface="微软雅黑"/>
                <a:ea typeface="微软雅黑"/>
              </a:rPr>
              <a:t>SwiftShader
CPU 实现 GLES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2907792"/>
            <a:ext cx="214884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SurfaceFlinger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703320"/>
            <a:ext cx="178308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微软雅黑"/>
                <a:ea typeface="微软雅黑"/>
              </a:rPr>
              <a:t>allocator
service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3703320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微软雅黑"/>
                <a:ea typeface="微软雅黑"/>
              </a:rPr>
              <a:t>HWComposer
service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4919472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/>
                <a:ea typeface="微软雅黑"/>
              </a:rPr>
              <a:t>Gralloc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4919472"/>
            <a:ext cx="1325880" cy="50292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66666"/>
                </a:solidFill>
                <a:latin typeface="微软雅黑"/>
                <a:ea typeface="微软雅黑"/>
              </a:rPr>
              <a:t>HWC
guest 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018520" y="4919472"/>
            <a:ext cx="1325880" cy="50292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66666"/>
                </a:solidFill>
                <a:latin typeface="微软雅黑"/>
                <a:ea typeface="微软雅黑"/>
              </a:rPr>
              <a:t>overlay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91640" y="5989320"/>
            <a:ext cx="1325880" cy="86868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JPEG
硬解加速
（可选）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54680" y="5989320"/>
            <a:ext cx="1325880" cy="86868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PNG
硬解加速
（可选）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00600" y="5989320"/>
            <a:ext cx="1325880" cy="86868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66666"/>
                </a:solidFill>
                <a:latin typeface="微软雅黑"/>
                <a:ea typeface="微软雅黑"/>
              </a:rPr>
              <a:t>GPU
本沙箱不走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5989320"/>
            <a:ext cx="12344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微软雅黑"/>
                <a:ea typeface="微软雅黑"/>
              </a:rPr>
              <a:t>ION
内存提供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598932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叠加加速器
（可选）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0" y="5989320"/>
            <a:ext cx="13258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微软雅黑"/>
                <a:ea typeface="微软雅黑"/>
              </a:rPr>
              <a:t>FB
图形图层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09960" y="598932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视频通路
（可选）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7589520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图形加速解码器类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7589520"/>
            <a:ext cx="13258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图形通用绘制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7589520"/>
            <a:ext cx="12344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内存提供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7589520"/>
            <a:ext cx="14173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叠加加速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7589520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显示层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537460" y="1280160"/>
            <a:ext cx="0" cy="502920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869180" y="1225295"/>
            <a:ext cx="0" cy="557785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223260" y="2167128"/>
            <a:ext cx="365759" cy="164592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4594860" y="2167128"/>
            <a:ext cx="457199" cy="164592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5920740" y="2167128"/>
            <a:ext cx="411479" cy="164592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606040" y="2551176"/>
            <a:ext cx="228600" cy="612648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223260" y="2770632"/>
            <a:ext cx="1005840" cy="630936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4549140" y="2770632"/>
            <a:ext cx="45720" cy="630936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229100" y="3858768"/>
            <a:ext cx="22860" cy="237744"/>
          </a:xfrm>
          <a:prstGeom prst="line">
            <a:avLst/>
          </a:prstGeom>
          <a:ln w="28575">
            <a:solidFill>
              <a:srgbClr val="C96C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920740" y="2770632"/>
            <a:ext cx="0" cy="1591056"/>
          </a:xfrm>
          <a:prstGeom prst="line">
            <a:avLst/>
          </a:prstGeom>
          <a:ln w="25400">
            <a:solidFill>
              <a:srgbClr val="C96C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5394960" y="4361688"/>
            <a:ext cx="525780" cy="0"/>
          </a:xfrm>
          <a:prstGeom prst="line">
            <a:avLst/>
          </a:prstGeom>
          <a:ln w="25400">
            <a:solidFill>
              <a:srgbClr val="C96C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51960" y="4626864"/>
            <a:ext cx="0" cy="182880"/>
          </a:xfrm>
          <a:prstGeom prst="line">
            <a:avLst/>
          </a:prstGeom>
          <a:ln w="25400">
            <a:solidFill>
              <a:srgbClr val="C96C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251960" y="4809744"/>
            <a:ext cx="2834640" cy="0"/>
          </a:xfrm>
          <a:prstGeom prst="line">
            <a:avLst/>
          </a:prstGeom>
          <a:ln w="25400">
            <a:solidFill>
              <a:srgbClr val="C96C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086600" y="4809744"/>
            <a:ext cx="0" cy="109728"/>
          </a:xfrm>
          <a:prstGeom prst="line">
            <a:avLst/>
          </a:prstGeom>
          <a:ln w="25400">
            <a:solidFill>
              <a:srgbClr val="C96C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429000" y="3858768"/>
            <a:ext cx="2034540" cy="2130552"/>
          </a:xfrm>
          <a:prstGeom prst="line">
            <a:avLst/>
          </a:prstGeom>
          <a:ln w="15875">
            <a:solidFill>
              <a:srgbClr val="666666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709660" y="1225295"/>
            <a:ext cx="0" cy="557785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7978140" y="2167128"/>
            <a:ext cx="160020" cy="164592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8641080" y="2496312"/>
            <a:ext cx="2651760" cy="54864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978140" y="2770632"/>
            <a:ext cx="548640" cy="137160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7795260" y="3383280"/>
            <a:ext cx="365760" cy="320040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983980" y="3383280"/>
            <a:ext cx="1005839" cy="320040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795260" y="4206240"/>
            <a:ext cx="0" cy="713232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7155180" y="5422392"/>
            <a:ext cx="640080" cy="566928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212079" y="3630168"/>
            <a:ext cx="1691641" cy="0"/>
          </a:xfrm>
          <a:prstGeom prst="line">
            <a:avLst/>
          </a:prstGeom>
          <a:ln w="1778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257799" y="3145536"/>
            <a:ext cx="123444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C96C16"/>
                </a:solidFill>
                <a:latin typeface="微软雅黑"/>
                <a:ea typeface="微软雅黑"/>
              </a:rPr>
              <a:t>GLES叠加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9601200" y="3145536"/>
            <a:ext cx="388619" cy="0"/>
          </a:xfrm>
          <a:prstGeom prst="line">
            <a:avLst/>
          </a:prstGeom>
          <a:ln w="22225">
            <a:solidFill>
              <a:srgbClr val="2F6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9852660" y="4206240"/>
            <a:ext cx="137159" cy="713232"/>
          </a:xfrm>
          <a:prstGeom prst="line">
            <a:avLst/>
          </a:prstGeom>
          <a:ln w="22225">
            <a:solidFill>
              <a:srgbClr val="2F6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8709660" y="5170932"/>
            <a:ext cx="480060" cy="0"/>
          </a:xfrm>
          <a:prstGeom prst="line">
            <a:avLst/>
          </a:prstGeom>
          <a:ln w="22225">
            <a:solidFill>
              <a:srgbClr val="2F6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955280" y="4663440"/>
            <a:ext cx="12801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2F6FD4"/>
                </a:solidFill>
                <a:latin typeface="微软雅黑"/>
                <a:ea typeface="微软雅黑"/>
              </a:rPr>
              <a:t>叠加 Compose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852660" y="5422392"/>
            <a:ext cx="411480" cy="566928"/>
          </a:xfrm>
          <a:prstGeom prst="line">
            <a:avLst/>
          </a:prstGeom>
          <a:ln w="22225">
            <a:solidFill>
              <a:srgbClr val="2F6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0332720" y="5422392"/>
            <a:ext cx="82296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2F6FD4"/>
                </a:solidFill>
                <a:latin typeface="微软雅黑"/>
                <a:ea typeface="微软雅黑"/>
              </a:rPr>
              <a:t>刷新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0515600" y="5170932"/>
            <a:ext cx="502920" cy="0"/>
          </a:xfrm>
          <a:prstGeom prst="line">
            <a:avLst/>
          </a:prstGeom>
          <a:ln w="22225">
            <a:solidFill>
              <a:srgbClr val="D4A0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1681460" y="5422392"/>
            <a:ext cx="137160" cy="566928"/>
          </a:xfrm>
          <a:prstGeom prst="line">
            <a:avLst/>
          </a:prstGeom>
          <a:ln w="22225">
            <a:solidFill>
              <a:srgbClr val="D4A0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2207240" y="5422392"/>
            <a:ext cx="10058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D4A012"/>
                </a:solidFill>
                <a:latin typeface="微软雅黑"/>
                <a:ea typeface="微软雅黑"/>
              </a:rPr>
              <a:t>独立送显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9728" y="164592"/>
            <a:ext cx="12344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162A5A"/>
                </a:solidFill>
                <a:latin typeface="微软雅黑"/>
                <a:ea typeface="微软雅黑"/>
              </a:rPr>
              <a:t>图例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64592" y="530352"/>
            <a:ext cx="704088" cy="0"/>
          </a:xfrm>
          <a:prstGeom prst="line">
            <a:avLst/>
          </a:prstGeom>
          <a:ln w="22225">
            <a:solidFill>
              <a:srgbClr val="D0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09728" y="566928"/>
            <a:ext cx="12344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D03232"/>
                </a:solidFill>
                <a:latin typeface="微软雅黑"/>
                <a:ea typeface="微软雅黑"/>
              </a:rPr>
              <a:t>绘制通路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64592" y="932688"/>
            <a:ext cx="704088" cy="0"/>
          </a:xfrm>
          <a:prstGeom prst="line">
            <a:avLst/>
          </a:prstGeom>
          <a:ln w="22225">
            <a:solidFill>
              <a:srgbClr val="2F6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09728" y="969264"/>
            <a:ext cx="12344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2F6FD4"/>
                </a:solidFill>
                <a:latin typeface="微软雅黑"/>
                <a:ea typeface="微软雅黑"/>
              </a:rPr>
              <a:t>叠加通路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64592" y="1335024"/>
            <a:ext cx="704088" cy="0"/>
          </a:xfrm>
          <a:prstGeom prst="line">
            <a:avLst/>
          </a:prstGeom>
          <a:ln w="22225">
            <a:solidFill>
              <a:srgbClr val="D4A0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09728" y="1371600"/>
            <a:ext cx="12344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D4A012"/>
                </a:solidFill>
                <a:latin typeface="微软雅黑"/>
                <a:ea typeface="微软雅黑"/>
              </a:rPr>
              <a:t>送显通路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64592" y="1737360"/>
            <a:ext cx="704088" cy="0"/>
          </a:xfrm>
          <a:prstGeom prst="line">
            <a:avLst/>
          </a:prstGeom>
          <a:ln w="22225">
            <a:solidFill>
              <a:srgbClr val="C96C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09728" y="1773936"/>
            <a:ext cx="1234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C96C16"/>
                </a:solidFill>
                <a:latin typeface="微软雅黑"/>
                <a:ea typeface="微软雅黑"/>
              </a:rPr>
              <a:t>软渲染
SwiftShader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" y="4800600"/>
            <a:ext cx="12801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HAL：guest 下 HWC 弱，合成常退回 GLES。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440" y="5806440"/>
            <a:ext cx="128016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C96C16"/>
                </a:solidFill>
                <a:latin typeface="微软雅黑"/>
                <a:ea typeface="微软雅黑"/>
              </a:rPr>
              <a:t>Kernel GPU / 硬解 / 叠加加速器：本沙箱旁路。像素由 CPU 上的 SwiftShader 填。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417320" y="7882127"/>
            <a:ext cx="12938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162A5A"/>
                </a:solidFill>
                <a:latin typeface="微软雅黑"/>
                <a:ea typeface="微软雅黑"/>
              </a:rPr>
              <a:t>本沙箱：MicroVM + ReDroid，androidboot.redroid_gpu_mode=guest。HWUI / SF 仍下单；SwiftShader 用 CPU 填像素；GPU 虚线为真机原路，本沙箱不走。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37160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162A5A"/>
                </a:solidFill>
                <a:latin typeface="微软雅黑"/>
                <a:ea typeface="微软雅黑"/>
              </a:rPr>
              <a:t>从这张栈图看，SwiftShader 应该在哪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5875">
            <a:solidFill>
              <a:srgbClr val="C96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96C16"/>
                </a:solidFill>
                <a:latin typeface="微软雅黑"/>
                <a:ea typeface="微软雅黑"/>
              </a:rPr>
              <a:t>在哪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7480" y="77724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22222"/>
                </a:solidFill>
                <a:latin typeface="微软雅黑"/>
                <a:ea typeface="微软雅黑"/>
              </a:rPr>
              <a:t>系统库这一层，Open GL ES 这一格的实现。对应原图红线：HWUI / Skia / libRS → Open GL ES → GPU。本沙箱在 Open GL ES 处截住，不再进内核 GPU。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19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5875">
            <a:solidFill>
              <a:srgbClr val="C96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96C16"/>
                </a:solidFill>
                <a:latin typeface="微软雅黑"/>
                <a:ea typeface="微软雅黑"/>
              </a:rPr>
              <a:t>为什么不在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1645919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22222"/>
                </a:solidFill>
                <a:latin typeface="微软雅黑"/>
                <a:ea typeface="微软雅黑"/>
              </a:rPr>
              <a:t>上面的 Open GL、Graphics 控件只是 API / 控件。它们下单，不填像素。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14600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5875">
            <a:solidFill>
              <a:srgbClr val="C96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96C16"/>
                </a:solidFill>
                <a:latin typeface="微软雅黑"/>
                <a:ea typeface="微软雅黑"/>
              </a:rPr>
              <a:t>为什么不在 HWUI / Skia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251460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22222"/>
                </a:solidFill>
                <a:latin typeface="微软雅黑"/>
                <a:ea typeface="微软雅黑"/>
              </a:rPr>
              <a:t>HWUI、Skia 把显示列表变成 GLES 调用。SwiftShader 是被调用的后端，不是它们自己。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83280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5875">
            <a:solidFill>
              <a:srgbClr val="C96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96C16"/>
                </a:solidFill>
                <a:latin typeface="微软雅黑"/>
                <a:ea typeface="微软雅黑"/>
              </a:rPr>
              <a:t>为什么不在 SurfaceFlinger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338328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22222"/>
                </a:solidFill>
                <a:latin typeface="微软雅黑"/>
                <a:ea typeface="微软雅黑"/>
              </a:rPr>
              <a:t>SF 是叠加通路的中枢。它做 GPU 叠加时自己也是 GLES 客户端，同样打进 Open GL ES → SwiftShader。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51960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5875">
            <a:solidFill>
              <a:srgbClr val="C96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96C16"/>
                </a:solidFill>
                <a:latin typeface="微软雅黑"/>
                <a:ea typeface="微软雅黑"/>
              </a:rPr>
              <a:t>为什么不在 HWC / overlay / FB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425196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22222"/>
                </a:solidFill>
                <a:latin typeface="微软雅黑"/>
                <a:ea typeface="微软雅黑"/>
              </a:rPr>
              <a:t>那是蓝/黄的叠加与送显。guest 模式 HWC 弱，合成往往退回 GLES，于是又回到 SwiftShader，但 SwiftShader 不是 HWC。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120640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5875">
            <a:solidFill>
              <a:srgbClr val="C96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96C16"/>
                </a:solidFill>
                <a:latin typeface="微软雅黑"/>
                <a:ea typeface="微软雅黑"/>
              </a:rPr>
              <a:t>Vulkan 那条红线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512064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22222"/>
                </a:solidFill>
                <a:latin typeface="微软雅黑"/>
                <a:ea typeface="微软雅黑"/>
              </a:rPr>
              <a:t>原图 Vulkan → GPU。SwiftShader 也能实现 Vulkan；本沙箱 guest 主路径仍是 GLES。不要把 Vulkan 盒改名叫 SwiftShader。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89320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5875">
            <a:solidFill>
              <a:srgbClr val="C96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96C16"/>
                </a:solidFill>
                <a:latin typeface="微软雅黑"/>
                <a:ea typeface="微软雅黑"/>
              </a:rPr>
              <a:t>Gralloc / 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598932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22222"/>
                </a:solidFill>
                <a:latin typeface="微软雅黑"/>
                <a:ea typeface="微软雅黑"/>
              </a:rPr>
              <a:t>缓冲分配还在。SwiftShader 画出的像素仍要进 GraphicBuffer，再交给 SurfaceFlinger。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7726679"/>
            <a:ext cx="13716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C96C16"/>
                </a:solidFill>
                <a:latin typeface="微软雅黑"/>
                <a:ea typeface="微软雅黑"/>
              </a:rPr>
              <a:t>一句话：画在系统库的 Open GL ES 上，替掉到 GPU 的绘制红线；不要画成一层新硬件接口，也不要画进内核。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